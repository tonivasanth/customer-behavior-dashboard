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Uncovering insights from 3,900 transactions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Purchase records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points per transaction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Review ratings imputed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41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Dataset includes customer demographics, purchase details, and shopping behavior metrics.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9052"/>
            <a:ext cx="65202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79595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Imported with pandas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Checked structure and statistics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Imputed missing review ratings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Standardized column names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79595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age groups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Calculated purchase frequency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Dropped redundant promo codes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Loaded 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768"/>
            <a:ext cx="8504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SQL Analysis: Revenue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9817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Gender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1540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customers generated $157,890 vs. female customers at $75,191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9817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Age Groups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21540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Young adults led with $62,143, followed by middle-aged ($59,197), adults ($55,978), and seniors ($55,763)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9817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Shipping Impact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21540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Express shipping averaged $60.48 vs. standard at $58.46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90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08146"/>
            <a:ext cx="3664744" cy="2757726"/>
          </a:xfrm>
          <a:prstGeom prst="roundRect">
            <a:avLst>
              <a:gd name="adj" fmla="val 5305"/>
            </a:avLst>
          </a:prstGeom>
          <a:solidFill>
            <a:srgbClr val="24163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277666"/>
            <a:ext cx="3664744" cy="1219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40" y="1967984"/>
            <a:ext cx="680442" cy="6804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76414" y="213812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6537484" y="2875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537484" y="3365540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Gloves (3.86), Sandals (3.84), Boots (3.82), Hat (3.80), Skirt (3.78)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10171748" y="2308146"/>
            <a:ext cx="3664863" cy="2757726"/>
          </a:xfrm>
          <a:prstGeom prst="roundRect">
            <a:avLst>
              <a:gd name="adj" fmla="val 5305"/>
            </a:avLst>
          </a:prstGeom>
          <a:solidFill>
            <a:srgbClr val="241631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48" y="2277666"/>
            <a:ext cx="3664863" cy="12192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3898" y="1967984"/>
            <a:ext cx="680442" cy="68044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67971" y="213812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10429042" y="2875121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Discount-Heavy Products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429042" y="3719870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Hat (50%), Sneakers (49.66%), Coat (49.07%), Sweater (48.17%), Pants (47.37%)</a:t>
            </a:r>
            <a:endParaRPr lang="en-US" sz="1750" dirty="0"/>
          </a:p>
        </p:txBody>
      </p:sp>
      <p:sp>
        <p:nvSpPr>
          <p:cNvPr id="16" name="Shape 9"/>
          <p:cNvSpPr/>
          <p:nvPr/>
        </p:nvSpPr>
        <p:spPr>
          <a:xfrm>
            <a:off x="6280190" y="5632847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241631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602367"/>
            <a:ext cx="7556421" cy="12192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8179" y="5292685"/>
            <a:ext cx="680442" cy="6804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22252" y="546282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6537484" y="6199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Category Leaders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6537484" y="6690241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Blouse, Pants, Jewelry, Sunglasses, Sandals, Shoes, Jacket, Coat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623322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Subscription 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498890"/>
            <a:ext cx="388108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Subscriber vs. Non-Subscriber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4036100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2,847 non-subscribers spent $170,436 (avg: $59.87) vs. 1,053 subscribers spending $62,645 (avg: $59.49)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90525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Repeat Buyers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5442466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958 repeat buyers subscribed vs. 2,518 non-subscribers with &gt;5 purchases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179"/>
            <a:ext cx="59532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79%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273260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3,116 customers with consistent purchase history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273260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44949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701 customers making second purchases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273260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4949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83 first-time buyers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27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146703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Interactive KPIs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3811429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3.9K customers, $59.8 average purchase, 3.75 average rating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171748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748" y="3146703"/>
            <a:ext cx="3664863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717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Visual Filters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71748" y="3811429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Shipping type, advice, gender, and category selections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80190" y="49340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266492"/>
            <a:ext cx="7556421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0190" y="5463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Seasonal Trends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80190" y="59538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Purchase patterns across fall, spring, winter, and summer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Findings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0745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Male Dominance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2.1x more revenue than female customers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40745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Discount Strategy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High-discount products drive sales but impact margins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40745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Loyalty Gap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79% loyal, but subscription conversion needs improvement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093" y="773073"/>
            <a:ext cx="4929188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Strategic Recommendations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52093" y="1430536"/>
            <a:ext cx="8039814" cy="1424226"/>
          </a:xfrm>
          <a:prstGeom prst="roundRect">
            <a:avLst>
              <a:gd name="adj" fmla="val 1661"/>
            </a:avLst>
          </a:prstGeom>
          <a:solidFill>
            <a:srgbClr val="43355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2" y="1588175"/>
            <a:ext cx="473154" cy="47315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867" y="1718191"/>
            <a:ext cx="212884" cy="2128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9732" y="2170986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8" name="Text 3"/>
          <p:cNvSpPr/>
          <p:nvPr/>
        </p:nvSpPr>
        <p:spPr>
          <a:xfrm>
            <a:off x="709732" y="2483168"/>
            <a:ext cx="772453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Promote exclusive benefits and rewards for subscribers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52093" y="2964418"/>
            <a:ext cx="8039814" cy="1424226"/>
          </a:xfrm>
          <a:prstGeom prst="roundRect">
            <a:avLst>
              <a:gd name="adj" fmla="val 1661"/>
            </a:avLst>
          </a:prstGeom>
          <a:solidFill>
            <a:srgbClr val="433550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32" y="3122057"/>
            <a:ext cx="473154" cy="47315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867" y="3252073"/>
            <a:ext cx="212884" cy="2128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09732" y="3704868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709732" y="4017050"/>
            <a:ext cx="772453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Reward repeat buyers to accelerate movement into loyal segment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52093" y="4498300"/>
            <a:ext cx="8039814" cy="1424226"/>
          </a:xfrm>
          <a:prstGeom prst="roundRect">
            <a:avLst>
              <a:gd name="adj" fmla="val 1661"/>
            </a:avLst>
          </a:prstGeom>
          <a:solidFill>
            <a:srgbClr val="433550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732" y="4655939"/>
            <a:ext cx="473154" cy="47315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67" y="4785955"/>
            <a:ext cx="212884" cy="21288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09732" y="5238750"/>
            <a:ext cx="216753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Review Discount Policy</a:t>
            </a:r>
            <a:endParaRPr lang="en-US" sz="1550" dirty="0"/>
          </a:p>
        </p:txBody>
      </p:sp>
      <p:sp>
        <p:nvSpPr>
          <p:cNvPr id="18" name="Text 9"/>
          <p:cNvSpPr/>
          <p:nvPr/>
        </p:nvSpPr>
        <p:spPr>
          <a:xfrm>
            <a:off x="709732" y="5550932"/>
            <a:ext cx="772453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Balance sales boosts with margin control and profitability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552093" y="6032183"/>
            <a:ext cx="8039814" cy="1424226"/>
          </a:xfrm>
          <a:prstGeom prst="roundRect">
            <a:avLst>
              <a:gd name="adj" fmla="val 1661"/>
            </a:avLst>
          </a:prstGeom>
          <a:solidFill>
            <a:srgbClr val="433550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732" y="6189821"/>
            <a:ext cx="473154" cy="473154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9867" y="6319838"/>
            <a:ext cx="212884" cy="21288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09732" y="6772632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23" name="Text 12"/>
          <p:cNvSpPr/>
          <p:nvPr/>
        </p:nvSpPr>
        <p:spPr>
          <a:xfrm>
            <a:off x="709732" y="7084814"/>
            <a:ext cx="772453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Focus on high-revenue age groups and express-shipping users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2026-03-30T04:19:25Z</dcterms:created>
  <dcterms:modified xsi:type="dcterms:W3CDTF">2026-03-30T04:19:25Z</dcterms:modified>
</cp:coreProperties>
</file>